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27a6f2c14b4a70" /><Relationship Type="http://schemas.openxmlformats.org/officeDocument/2006/relationships/extended-properties" Target="/docProps/app.xml" Id="Ra65af4da0e82456c" /><Relationship Type="http://schemas.openxmlformats.org/officeDocument/2006/relationships/officeDocument" Target="/ppt/presentation.xml" Id="Ra31c3e0ecf4b4a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eb4ccaaebb402a"/>
  </p:sldMasterIdLst>
  <p:notesMasterIdLst>
    <p:notesMasterId xmlns:r="http://schemas.openxmlformats.org/officeDocument/2006/relationships" r:id="R395487d8b3294829"/>
  </p:notesMasterIdLst>
  <p:sldIdLst>
    <p:sldId xmlns:r="http://schemas.openxmlformats.org/officeDocument/2006/relationships" id="256" r:id="Ra52bad6a7633451d"/>
    <p:sldId xmlns:r="http://schemas.openxmlformats.org/officeDocument/2006/relationships" id="257" r:id="R4b9ba2d424ec4084"/>
    <p:sldId xmlns:r="http://schemas.openxmlformats.org/officeDocument/2006/relationships" id="258" r:id="R048c1cae03d4485a"/>
    <p:sldId xmlns:r="http://schemas.openxmlformats.org/officeDocument/2006/relationships" id="259" r:id="R72a6c8b302cb4768"/>
    <p:sldId xmlns:r="http://schemas.openxmlformats.org/officeDocument/2006/relationships" id="260" r:id="R8530dc9871264eca"/>
    <p:sldId xmlns:r="http://schemas.openxmlformats.org/officeDocument/2006/relationships" id="261" r:id="R85e7a33a28d84d7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bd35c1a23e4c97" /><Relationship Type="http://schemas.openxmlformats.org/officeDocument/2006/relationships/slideMaster" Target="/ppt/slideMasters/slideMaster1.xml" Id="Re0eb4ccaaebb402a" /><Relationship Type="http://schemas.openxmlformats.org/officeDocument/2006/relationships/notesMaster" Target="/ppt/notesMasters/notesMaster1.xml" Id="R395487d8b3294829" /><Relationship Type="http://schemas.openxmlformats.org/officeDocument/2006/relationships/presProps" Target="/ppt/presProps.xml" Id="R77fb63870e404527" /><Relationship Type="http://schemas.openxmlformats.org/officeDocument/2006/relationships/tableStyles" Target="/ppt/tableStyles.xml" Id="R84a54680e3f34664" /><Relationship Type="http://schemas.openxmlformats.org/officeDocument/2006/relationships/slide" Target="/ppt/slides/slide1.xml" Id="Ra52bad6a7633451d" /><Relationship Type="http://schemas.openxmlformats.org/officeDocument/2006/relationships/slide" Target="/ppt/slides/slide2.xml" Id="R4b9ba2d424ec4084" /><Relationship Type="http://schemas.openxmlformats.org/officeDocument/2006/relationships/slide" Target="/ppt/slides/slide3.xml" Id="R048c1cae03d4485a" /><Relationship Type="http://schemas.openxmlformats.org/officeDocument/2006/relationships/slide" Target="/ppt/slides/slide4.xml" Id="R72a6c8b302cb4768" /><Relationship Type="http://schemas.openxmlformats.org/officeDocument/2006/relationships/slide" Target="/ppt/slides/slide5.xml" Id="R8530dc9871264eca" /><Relationship Type="http://schemas.openxmlformats.org/officeDocument/2006/relationships/slide" Target="/ppt/slides/slide6.xml" Id="R85e7a33a28d84d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e2480e494b4a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1679f6c073477d" /><Relationship Type="http://schemas.openxmlformats.org/officeDocument/2006/relationships/notesMaster" Target="/ppt/notesMasters/notesMaster1.xml" Id="R8c234fcd901e46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871813fe364d94" /><Relationship Type="http://schemas.openxmlformats.org/officeDocument/2006/relationships/notesMaster" Target="/ppt/notesMasters/notesMaster1.xml" Id="R5438e2731ff841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4f4d21bced4455" /><Relationship Type="http://schemas.openxmlformats.org/officeDocument/2006/relationships/notesMaster" Target="/ppt/notesMasters/notesMaster1.xml" Id="R3830b1ce9cb543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32d7674be84fb4" /><Relationship Type="http://schemas.openxmlformats.org/officeDocument/2006/relationships/notesMaster" Target="/ppt/notesMasters/notesMaster1.xml" Id="Rb50ed5ca6f404c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dd0a78373341e7" /><Relationship Type="http://schemas.openxmlformats.org/officeDocument/2006/relationships/notesMaster" Target="/ppt/notesMasters/notesMaster1.xml" Id="Rfbb5a3c5a8ec4b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5bc8eded1c4b8b" /><Relationship Type="http://schemas.openxmlformats.org/officeDocument/2006/relationships/notesMaster" Target="/ppt/notesMasters/notesMaster1.xml" Id="Rb80beec94d2748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887d7098dd43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3a3e564bb14cc5" /><Relationship Type="http://schemas.openxmlformats.org/officeDocument/2006/relationships/slideLayout" Target="/ppt/slideLayouts/slideLayout1.xml" Id="R09a83d9b113144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a83d9b113144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922cdfb8cb42b7" /><Relationship Type="http://schemas.openxmlformats.org/officeDocument/2006/relationships/notesSlide" Target="/ppt/notesSlides/notesSlide1.xml" Id="R9018f1dd1bda45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609f17cb3e4e35" /><Relationship Type="http://schemas.openxmlformats.org/officeDocument/2006/relationships/notesSlide" Target="/ppt/notesSlides/notesSlide2.xml" Id="Rbc33dd4fe05846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b96546d2c34076" /><Relationship Type="http://schemas.openxmlformats.org/officeDocument/2006/relationships/notesSlide" Target="/ppt/notesSlides/notesSlide3.xml" Id="R0c777e2702e04c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74e2f629d240e3" /><Relationship Type="http://schemas.openxmlformats.org/officeDocument/2006/relationships/notesSlide" Target="/ppt/notesSlides/notesSlide4.xml" Id="Rb00c2eade6dc42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fbfc31faa64fd2" /><Relationship Type="http://schemas.openxmlformats.org/officeDocument/2006/relationships/notesSlide" Target="/ppt/notesSlides/notesSlide5.xml" Id="Reb1f61e7299a4a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fe8f002f7d4453" /><Relationship Type="http://schemas.openxmlformats.org/officeDocument/2006/relationships/notesSlide" Target="/ppt/notesSlides/notesSlide6.xml" Id="R32f694caabe5435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0C4698-467B-43E4-8D31-9E86AD8B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374DF"/>
                </a:solidFill>
              </a:defRPr>
            </a:pPr>
            <a:r>
              <a:rPr sz="1050" b="1">
                <a:solidFill>
                  <a:srgbClr val="2374DF"/>
                </a:solidFill>
              </a:rPr>
              <a:t>WEATHER DATA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8D7FB9-4111-443E-940E-0B7FC8E2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666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02940"/>
                </a:solidFill>
              </a:defRPr>
            </a:pPr>
            <a:r>
              <a:rPr sz="4650" b="1">
                <a:solidFill>
                  <a:srgbClr val="102940"/>
                </a:solidFill>
              </a:rPr>
              <a:t>Weather Sensor</a:t>
            </a:r>
          </a:p>
          <a:p xmlns:a="http://schemas.openxmlformats.org/drawingml/2006/main">
            <a:pPr>
              <a:defRPr sz="4650" b="1">
                <a:solidFill>
                  <a:srgbClr val="102940"/>
                </a:solidFill>
              </a:defRPr>
            </a:pPr>
            <a:r>
              <a:rPr sz="4650" b="1">
                <a:solidFill>
                  <a:srgbClr val="102940"/>
                </a:solidFill>
              </a:rPr>
              <a:t>Data Proof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90D101-EE31-4895-9216-D02EC654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0778B"/>
                </a:solidFill>
              </a:defRPr>
            </a:pPr>
            <a:r>
              <a:rPr sz="1800" b="0">
                <a:solidFill>
                  <a:srgbClr val="60778B"/>
                </a:solidFill>
              </a:rPr>
              <a:t>An interactive prototype that proves weather data can be compressed and restored exactly.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7720B8-C489-4FD4-9A13-B777A54D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352550"/>
            <a:ext cx="2952750" cy="304800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9525">
            <a:solidFill>
              <a:srgbClr val="DCE6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10E987-D940-4D51-A34D-2E853A3A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85950"/>
            <a:ext cx="200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940"/>
                </a:solidFill>
              </a:defRPr>
            </a:pPr>
            <a:r>
              <a:rPr sz="2250" b="1">
                <a:solidFill>
                  <a:srgbClr val="102940"/>
                </a:solidFill>
              </a:rPr>
              <a:t>Temperature</a:t>
            </a:r>
          </a:p>
          <a:p xmlns:a="http://schemas.openxmlformats.org/drawingml/2006/main">
            <a:pPr>
              <a:defRPr sz="2250" b="1">
                <a:solidFill>
                  <a:srgbClr val="102940"/>
                </a:solidFill>
              </a:defRPr>
            </a:pPr>
            <a:r>
              <a:rPr sz="2250" b="1">
                <a:solidFill>
                  <a:srgbClr val="102940"/>
                </a:solidFill>
              </a:rPr>
              <a:t>Humidity</a:t>
            </a:r>
          </a:p>
          <a:p xmlns:a="http://schemas.openxmlformats.org/drawingml/2006/main">
            <a:pPr>
              <a:defRPr sz="2250" b="1">
                <a:solidFill>
                  <a:srgbClr val="102940"/>
                </a:solidFill>
              </a:defRPr>
            </a:pPr>
            <a:r>
              <a:rPr sz="2250" b="1">
                <a:solidFill>
                  <a:srgbClr val="102940"/>
                </a:solidFill>
              </a:rPr>
              <a:t>Wind speed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B7FB18-49E3-480D-B049-51D157D8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476625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74DF"/>
                </a:solidFill>
              </a:defRPr>
            </a:pPr>
            <a:r>
              <a:rPr sz="1350" b="1">
                <a:solidFill>
                  <a:srgbClr val="2374DF"/>
                </a:solidFill>
              </a:rPr>
              <a:t>No audio inside the prototype.</a:t>
            </a:r>
          </a:p>
          <a:p xmlns:a="http://schemas.openxmlformats.org/drawingml/2006/main">
            <a:pPr>
              <a:defRPr sz="1350" b="1">
                <a:solidFill>
                  <a:srgbClr val="2374DF"/>
                </a:solidFill>
              </a:defRPr>
            </a:pPr>
            <a:r>
              <a:rPr sz="1350" b="1">
                <a:solidFill>
                  <a:srgbClr val="2374DF"/>
                </a:solidFill>
              </a:rPr>
              <a:t>Use this PPT as the explanation.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EFBC82-962F-4B6D-9225-31884C9E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B"/>
                </a:solidFill>
              </a:defRPr>
            </a:pPr>
            <a:r>
              <a:rPr sz="900" b="0">
                <a:solidFill>
                  <a:srgbClr val="60778B"/>
                </a:solidFill>
              </a:rPr>
              <a:t>Weather Sensor Data Proof Lab  ·  Step-by-step explainer  ·  1/6</a:t>
            </a:r>
          </a:p>
        </p:txBody>
      </p:sp>
    </p:spTree>
    <p:extLst>
      <p:ext uri="{BB962C8B-B14F-4D97-AF65-F5344CB8AC3E}">
        <p14:creationId xmlns:p14="http://schemas.microsoft.com/office/powerpoint/2010/main" val="6263464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C59100-1AE6-4EC5-8739-5B943229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940"/>
                </a:solidFill>
              </a:defRPr>
            </a:pPr>
            <a:r>
              <a:rPr sz="2925" b="1">
                <a:solidFill>
                  <a:srgbClr val="102940"/>
                </a:solidFill>
              </a:rPr>
              <a:t>Start with a weather stream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AA629E-70C2-4C9C-9A91-955EB676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0778B"/>
                </a:solidFill>
              </a:defRPr>
            </a:pPr>
            <a:r>
              <a:rPr sz="1575" b="0">
                <a:solidFill>
                  <a:srgbClr val="60778B"/>
                </a:solidFill>
              </a:rPr>
              <a:t>Choose temperature, humidity, or wind speed. The demo uses synthetic readings so it is safe to show anywhere.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7BA6B5-2AA1-43CF-BBF2-F85006AD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14325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9525">
            <a:solidFill>
              <a:srgbClr val="DCE6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B8FDA9-95EE-4B44-9D78-F9E68257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940"/>
                </a:solidFill>
              </a:defRPr>
            </a:pPr>
            <a:r>
              <a:rPr sz="1500" b="1">
                <a:solidFill>
                  <a:srgbClr val="102940"/>
                </a:solidFill>
              </a:rPr>
              <a:t>Mirror stream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365E72-93A0-48C4-B073-4BAC65A5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81275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78B"/>
                </a:solidFill>
              </a:defRPr>
            </a:pPr>
            <a:r>
              <a:rPr sz="1125" b="0">
                <a:solidFill>
                  <a:srgbClr val="60778B"/>
                </a:solidFill>
              </a:rPr>
              <a:t>Automatically processes a new weather packet every 0.7 seconds.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B94862-121D-4DE3-9566-F38F868D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95500"/>
            <a:ext cx="314325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4B4D0C-4C24-4F80-8F46-D0147467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6695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940"/>
                </a:solidFill>
              </a:defRPr>
            </a:pPr>
            <a:r>
              <a:rPr sz="1500" b="1">
                <a:solidFill>
                  <a:srgbClr val="102940"/>
                </a:solidFill>
              </a:rPr>
              <a:t>Process one packet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9EDF97-1FF6-4EB5-BAE8-E9C4537C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81275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78B"/>
                </a:solidFill>
              </a:defRPr>
            </a:pPr>
            <a:r>
              <a:rPr sz="1125" b="0">
                <a:solidFill>
                  <a:srgbClr val="60778B"/>
                </a:solidFill>
              </a:rPr>
              <a:t>Shows one example slowly, useful during an interview.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80DF3E-36B5-4FFD-AF82-14605DE1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95500"/>
            <a:ext cx="314325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739A80-40B8-4E4C-AFC4-1D555095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6695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940"/>
                </a:solidFill>
              </a:defRPr>
            </a:pPr>
            <a:r>
              <a:rPr sz="1500" b="1">
                <a:solidFill>
                  <a:srgbClr val="102940"/>
                </a:solidFill>
              </a:rPr>
              <a:t>Inject drift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F5D965-C580-43EA-8EAC-8557C38E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81275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78B"/>
                </a:solidFill>
              </a:defRPr>
            </a:pPr>
            <a:r>
              <a:rPr sz="1125" b="0">
                <a:solidFill>
                  <a:srgbClr val="60778B"/>
                </a:solidFill>
              </a:rPr>
              <a:t>Changes the weather pattern to test whether the profile still fits.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CB40B0-76C1-4F43-BE2C-3F2A4BBF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314325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64E32B-4B1F-4860-BAC7-046E7A50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940"/>
                </a:solidFill>
              </a:defRPr>
            </a:pPr>
            <a:r>
              <a:rPr sz="1500" b="1">
                <a:solidFill>
                  <a:srgbClr val="102940"/>
                </a:solidFill>
              </a:rPr>
              <a:t>Corrupt next packet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467193-872E-42DD-8580-165BF0CC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0025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78B"/>
                </a:solidFill>
              </a:defRPr>
            </a:pPr>
            <a:r>
              <a:rPr sz="1125" b="0">
                <a:solidFill>
                  <a:srgbClr val="60778B"/>
                </a:solidFill>
              </a:rPr>
              <a:t>Damages a packet on purpose to test safe handling.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51443D-D686-4042-A52F-8043D2FC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524250"/>
            <a:ext cx="314325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9C4083-BCA6-413D-A314-4362E43D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9570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940"/>
                </a:solidFill>
              </a:defRPr>
            </a:pPr>
            <a:r>
              <a:rPr sz="1500" b="1">
                <a:solidFill>
                  <a:srgbClr val="102940"/>
                </a:solidFill>
              </a:rPr>
              <a:t>Retrain profile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51CD3F-593B-4B01-B00F-50D2CAD0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10025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778B"/>
                </a:solidFill>
              </a:defRPr>
            </a:pPr>
            <a:r>
              <a:rPr sz="1125" b="0">
                <a:solidFill>
                  <a:srgbClr val="60778B"/>
                </a:solidFill>
              </a:rPr>
              <a:t>Resets the example profile after a changed pattern.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E596B-7515-4E13-AAB4-F7F9A885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B"/>
                </a:solidFill>
              </a:defRPr>
            </a:pPr>
            <a:r>
              <a:rPr sz="900" b="0">
                <a:solidFill>
                  <a:srgbClr val="60778B"/>
                </a:solidFill>
              </a:rPr>
              <a:t>Weather Sensor Data Proof Lab  ·  Step-by-step explainer  ·  2/6</a:t>
            </a:r>
          </a:p>
        </p:txBody>
      </p:sp>
    </p:spTree>
    <p:extLst>
      <p:ext uri="{BB962C8B-B14F-4D97-AF65-F5344CB8AC3E}">
        <p14:creationId xmlns:p14="http://schemas.microsoft.com/office/powerpoint/2010/main" val="16664455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F5224A-B962-42F5-8523-C95DD36E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940"/>
                </a:solidFill>
              </a:defRPr>
            </a:pPr>
            <a:r>
              <a:rPr sz="2925" b="1">
                <a:solidFill>
                  <a:srgbClr val="102940"/>
                </a:solidFill>
              </a:rPr>
              <a:t>Each packet follows a lossless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005FE9-5246-48BF-AF60-C9103A9E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0778B"/>
                </a:solidFill>
              </a:defRPr>
            </a:pPr>
            <a:r>
              <a:rPr sz="1575" b="0">
                <a:solidFill>
                  <a:srgbClr val="60778B"/>
                </a:solidFill>
              </a:rPr>
              <a:t>The result must be exactly the same as the original packet—not merely similar.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422AF9-C61C-4DDF-8C4C-21E066BB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2857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9525">
            <a:solidFill>
              <a:srgbClr val="DCE6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B9B922-6F89-42D9-A4AF-1A576199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940"/>
                </a:solidFill>
              </a:defRPr>
            </a:pPr>
            <a:r>
              <a:rPr sz="1650" b="1">
                <a:solidFill>
                  <a:srgbClr val="102940"/>
                </a:solidFill>
              </a:rPr>
              <a:t>Original weather packet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E93570-8B54-44D6-9DFC-28CBE725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78B"/>
                </a:solidFill>
              </a:defRPr>
            </a:pPr>
            <a:r>
              <a:rPr sz="1275" b="0">
                <a:solidFill>
                  <a:srgbClr val="60778B"/>
                </a:solidFill>
              </a:rPr>
              <a:t>Example: temperature, sequence number, and unit.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735BAC-17F9-4AA5-88DC-98E73896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432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374DF"/>
                </a:solidFill>
              </a:defRPr>
            </a:pPr>
            <a:r>
              <a:rPr sz="2400" b="1">
                <a:solidFill>
                  <a:srgbClr val="2374DF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2B9DD3-7C27-4071-B5E6-84CBC64FE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28875"/>
            <a:ext cx="2857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8F8EF"/>
          </a:solidFill>
          <a:ln xmlns:a="http://schemas.openxmlformats.org/drawingml/2006/main" w="9525">
            <a:solidFill>
              <a:srgbClr val="DCE6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5CAF34-156D-4226-9C27-6AB24C7F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67000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940"/>
                </a:solidFill>
              </a:defRPr>
            </a:pPr>
            <a:r>
              <a:rPr sz="1650" b="1">
                <a:solidFill>
                  <a:srgbClr val="102940"/>
                </a:solidFill>
              </a:rPr>
              <a:t>Encoded bytes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ECF857-340C-4FF3-8448-7E0794E9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337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78B"/>
                </a:solidFill>
              </a:defRPr>
            </a:pPr>
            <a:r>
              <a:rPr sz="1275" b="0">
                <a:solidFill>
                  <a:srgbClr val="60778B"/>
                </a:solidFill>
              </a:rPr>
              <a:t>A compact reversible packet using the weather profile.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D7D374-0822-4B84-8A9B-C7C35AF0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432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374DF"/>
                </a:solidFill>
              </a:defRPr>
            </a:pPr>
            <a:r>
              <a:rPr sz="2400" b="1">
                <a:solidFill>
                  <a:srgbClr val="2374D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8409A6-9EC3-4F7B-BCAC-B2E1BB60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28875"/>
            <a:ext cx="2857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9525">
            <a:solidFill>
              <a:srgbClr val="DCE6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E5B551-867A-4E80-8E17-E7C67C02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67000"/>
            <a:ext cx="242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940"/>
                </a:solidFill>
              </a:defRPr>
            </a:pPr>
            <a:r>
              <a:rPr sz="1650" b="1">
                <a:solidFill>
                  <a:srgbClr val="102940"/>
                </a:solidFill>
              </a:rPr>
              <a:t>Decoded weather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8E7F93-AFA7-4122-A3D1-F1127E38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337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78B"/>
                </a:solidFill>
              </a:defRPr>
            </a:pPr>
            <a:r>
              <a:rPr sz="1275" b="0">
                <a:solidFill>
                  <a:srgbClr val="60778B"/>
                </a:solidFill>
              </a:rPr>
              <a:t>Recreated packet is converted back to its original bytes.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9E28AB-5DAE-4C49-B98D-6DF7D10A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784B"/>
                </a:solidFill>
              </a:defRPr>
            </a:pPr>
            <a:r>
              <a:rPr sz="1800" b="1">
                <a:solidFill>
                  <a:srgbClr val="08784B"/>
                </a:solidFill>
              </a:rPr>
              <a:t>PASS means: raw bytes and decoded bytes match byte for byte.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5A62C9-E0F0-4D06-91C9-C1A7A99B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B"/>
                </a:solidFill>
              </a:defRPr>
            </a:pPr>
            <a:r>
              <a:rPr sz="900" b="0">
                <a:solidFill>
                  <a:srgbClr val="60778B"/>
                </a:solidFill>
              </a:rPr>
              <a:t>Weather Sensor Data Proof Lab  ·  Step-by-step explainer  ·  3/6</a:t>
            </a:r>
          </a:p>
        </p:txBody>
      </p:sp>
    </p:spTree>
    <p:extLst>
      <p:ext uri="{BB962C8B-B14F-4D97-AF65-F5344CB8AC3E}">
        <p14:creationId xmlns:p14="http://schemas.microsoft.com/office/powerpoint/2010/main" val="2561744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37C4D-656C-4F44-9C5B-D3C250FB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940"/>
                </a:solidFill>
              </a:defRPr>
            </a:pPr>
            <a:r>
              <a:rPr sz="2925" b="1">
                <a:solidFill>
                  <a:srgbClr val="102940"/>
                </a:solidFill>
              </a:rPr>
              <a:t>The comparison is fair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2912A2-DC10-4160-BC84-9A53FF2E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0778B"/>
                </a:solidFill>
              </a:defRPr>
            </a:pPr>
            <a:r>
              <a:rPr sz="1575" b="0">
                <a:solidFill>
                  <a:srgbClr val="60778B"/>
                </a:solidFill>
              </a:rPr>
              <a:t>Both methods receive the same captured weather packets.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FB6CA9-3FDA-42E9-A818-2F92FD62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762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8F8EF"/>
          </a:solidFill>
          <a:ln xmlns:a="http://schemas.openxmlformats.org/drawingml/2006/main" w="9525">
            <a:solidFill>
              <a:srgbClr val="DCE6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937767-E31C-4901-84A5-A35F74DA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61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940"/>
                </a:solidFill>
              </a:defRPr>
            </a:pPr>
            <a:r>
              <a:rPr sz="2025" b="1">
                <a:solidFill>
                  <a:srgbClr val="102940"/>
                </a:solidFill>
              </a:rPr>
              <a:t>Sensor-specific delta profile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B86574-C22A-4CB6-8944-61808186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00400"/>
            <a:ext cx="3667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78B"/>
                </a:solidFill>
              </a:defRPr>
            </a:pPr>
            <a:r>
              <a:rPr sz="1350" b="0">
                <a:solidFill>
                  <a:srgbClr val="60778B"/>
                </a:solidFill>
              </a:rPr>
              <a:t>Uses time-series context: it stores a compact change from the previous weather value and protects the packet with a checksum.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55BD47-3377-499E-85EA-B6CD3B7C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66950"/>
            <a:ext cx="47625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9525">
            <a:solidFill>
              <a:srgbClr val="DCE6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B3482C-8A12-488B-A2DB-773FE593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19375"/>
            <a:ext cx="361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02940"/>
                </a:solidFill>
              </a:defRPr>
            </a:pPr>
            <a:r>
              <a:rPr sz="2025" b="1">
                <a:solidFill>
                  <a:srgbClr val="102940"/>
                </a:solidFill>
              </a:rPr>
              <a:t>Standard GZIP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E22C94-2583-4370-88F3-6B2BFCE4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00400"/>
            <a:ext cx="3667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78B"/>
                </a:solidFill>
              </a:defRPr>
            </a:pPr>
            <a:r>
              <a:rPr sz="1350" b="0">
                <a:solidFill>
                  <a:srgbClr val="60778B"/>
                </a:solidFill>
              </a:rPr>
              <a:t>A standard generic compressor. It sees raw bytes but has no knowledge of temperature, humidity, or wind patterns.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5F4045-D98E-446B-8025-17CB3FB7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374DF"/>
                </a:solidFill>
              </a:defRPr>
            </a:pPr>
            <a:r>
              <a:rPr sz="1575" b="1">
                <a:solidFill>
                  <a:srgbClr val="2374DF"/>
                </a:solidFill>
              </a:rPr>
              <a:t>The result answers: which method is smaller for this sample, while both still restore exactly?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BA7401-EE30-4F10-A419-2F1E1AA5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B"/>
                </a:solidFill>
              </a:defRPr>
            </a:pPr>
            <a:r>
              <a:rPr sz="900" b="0">
                <a:solidFill>
                  <a:srgbClr val="60778B"/>
                </a:solidFill>
              </a:rPr>
              <a:t>Weather Sensor Data Proof Lab  ·  Step-by-step explainer  ·  4/6</a:t>
            </a:r>
          </a:p>
        </p:txBody>
      </p:sp>
    </p:spTree>
    <p:extLst>
      <p:ext uri="{BB962C8B-B14F-4D97-AF65-F5344CB8AC3E}">
        <p14:creationId xmlns:p14="http://schemas.microsoft.com/office/powerpoint/2010/main" val="14477372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073A98-796A-4F56-98D9-6DB7B4EF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940"/>
                </a:solidFill>
              </a:defRPr>
            </a:pPr>
            <a:r>
              <a:rPr sz="2925" b="1">
                <a:solidFill>
                  <a:srgbClr val="102940"/>
                </a:solidFill>
              </a:rPr>
              <a:t>Safety checks stop a bad rollout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3E8081-7180-4F1F-94EA-3E10BFD0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0778B"/>
                </a:solidFill>
              </a:defRPr>
            </a:pPr>
            <a:r>
              <a:rPr sz="1575" b="0">
                <a:solidFill>
                  <a:srgbClr val="60778B"/>
                </a:solidFill>
              </a:rPr>
              <a:t>A good compression percentage alone is not enough.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A6068A-844D-4515-BF10-43C6A942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DCE6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F64FE3-7A74-404A-834B-7B50899E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C5B06"/>
                </a:solidFill>
              </a:defRPr>
            </a:pPr>
            <a:r>
              <a:rPr sz="2100" b="1">
                <a:solidFill>
                  <a:srgbClr val="9C5B06"/>
                </a:solidFill>
              </a:rPr>
              <a:t>Drift active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E2C2B4-737A-4606-A36A-64FB5787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33725"/>
            <a:ext cx="3905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78B"/>
                </a:solidFill>
              </a:defRPr>
            </a:pPr>
            <a:r>
              <a:rPr sz="1350" b="0">
                <a:solidFill>
                  <a:srgbClr val="60778B"/>
                </a:solidFill>
              </a:rPr>
              <a:t>The weather pattern becomes much more variable. Decoding can still be exact, but bigger packets show the old profile may no longer be efficient. The gate says Investigate.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DA813B-3EA2-4117-A4E8-2A7D0485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90750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DEBED"/>
          </a:solidFill>
          <a:ln xmlns:a="http://schemas.openxmlformats.org/drawingml/2006/main" w="9525">
            <a:solidFill>
              <a:srgbClr val="DCE6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BD6AC3-C3C0-41BB-96AD-BD4B66A3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336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D2E38"/>
                </a:solidFill>
              </a:defRPr>
            </a:pPr>
            <a:r>
              <a:rPr sz="2100" b="1">
                <a:solidFill>
                  <a:srgbClr val="AD2E38"/>
                </a:solidFill>
              </a:rPr>
              <a:t>Corrupted packet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7013A2-521A-47DE-869A-57574FA8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33725"/>
            <a:ext cx="3905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78B"/>
                </a:solidFill>
              </a:defRPr>
            </a:pPr>
            <a:r>
              <a:rPr sz="1350" b="0">
                <a:solidFill>
                  <a:srgbClr val="60778B"/>
                </a:solidFill>
              </a:rPr>
              <a:t>One encoded byte is changed on purpose. The checksum fails, and the tool rejects the packet instead of inventing a false weather reading.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62CE10-3966-4F79-8FA9-EF24829A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940"/>
                </a:solidFill>
              </a:defRPr>
            </a:pPr>
            <a:r>
              <a:rPr sz="1650" b="1">
                <a:solidFill>
                  <a:srgbClr val="102940"/>
                </a:solidFill>
              </a:rPr>
              <a:t>Correct response: investigate or retrain before a wider rollout.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08A9A7-3B2E-4D2C-A0A3-9F906910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B"/>
                </a:solidFill>
              </a:defRPr>
            </a:pPr>
            <a:r>
              <a:rPr sz="900" b="0">
                <a:solidFill>
                  <a:srgbClr val="60778B"/>
                </a:solidFill>
              </a:rPr>
              <a:t>Weather Sensor Data Proof Lab  ·  Step-by-step explainer  ·  5/6</a:t>
            </a:r>
          </a:p>
        </p:txBody>
      </p:sp>
    </p:spTree>
    <p:extLst>
      <p:ext uri="{BB962C8B-B14F-4D97-AF65-F5344CB8AC3E}">
        <p14:creationId xmlns:p14="http://schemas.microsoft.com/office/powerpoint/2010/main" val="14530524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E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993103-EA3E-43D6-9FAB-FF6024BA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02940"/>
                </a:solidFill>
              </a:defRPr>
            </a:pPr>
            <a:r>
              <a:rPr sz="2925" b="1">
                <a:solidFill>
                  <a:srgbClr val="102940"/>
                </a:solidFill>
              </a:rPr>
              <a:t>What the final report tells the user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CF8C94-4C81-45A0-8262-5143B195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0778B"/>
                </a:solidFill>
              </a:defRPr>
            </a:pPr>
            <a:r>
              <a:rPr sz="1575" b="0">
                <a:solidFill>
                  <a:srgbClr val="60778B"/>
                </a:solidFill>
              </a:rPr>
              <a:t>Download the Compression Passport after processing the weather stream.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FBBF8C-9498-40A3-826D-BD9F2E4E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857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6ACE4-05BB-4264-947A-E56A3E56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940"/>
                </a:solidFill>
              </a:defRPr>
            </a:pPr>
            <a:r>
              <a:rPr sz="1575" b="1">
                <a:solidFill>
                  <a:srgbClr val="102940"/>
                </a:solidFill>
              </a:rPr>
              <a:t>Payload saving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7A7D7B-0BB3-43D2-B305-011F9FA5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78B"/>
                </a:solidFill>
              </a:defRPr>
            </a:pPr>
            <a:r>
              <a:rPr sz="1200" b="0">
                <a:solidFill>
                  <a:srgbClr val="60778B"/>
                </a:solidFill>
              </a:rPr>
              <a:t>How many raw bytes became encoded bytes.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E338EE-4B7C-474F-98F5-D730800C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95500"/>
            <a:ext cx="4857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9238E6-4248-4C9F-A87D-3819E8C9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6695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940"/>
                </a:solidFill>
              </a:defRPr>
            </a:pPr>
            <a:r>
              <a:rPr sz="1575" b="1">
                <a:solidFill>
                  <a:srgbClr val="102940"/>
                </a:solidFill>
              </a:rPr>
              <a:t>Exact reconstruction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2EA8CC-E003-4EDC-9AE7-14DFE12C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90800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78B"/>
                </a:solidFill>
              </a:defRPr>
            </a:pPr>
            <a:r>
              <a:rPr sz="1200" b="0">
                <a:solidFill>
                  <a:srgbClr val="60778B"/>
                </a:solidFill>
              </a:rPr>
              <a:t>How many packets decoded byte-for-byte.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E45450-308E-4EA3-B2A6-DA3C5DE7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4857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E7DF7E-E767-4B05-8672-252E5857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48075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940"/>
                </a:solidFill>
              </a:defRPr>
            </a:pPr>
            <a:r>
              <a:rPr sz="1575" b="1">
                <a:solidFill>
                  <a:srgbClr val="102940"/>
                </a:solidFill>
              </a:rPr>
              <a:t>Safe rejection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B52901-DCAD-4B00-A198-0FC1632B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71925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78B"/>
                </a:solidFill>
              </a:defRPr>
            </a:pPr>
            <a:r>
              <a:rPr sz="1200" b="0">
                <a:solidFill>
                  <a:srgbClr val="60778B"/>
                </a:solidFill>
              </a:rPr>
              <a:t>How many damaged packets were stopped safely.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B7DE12-3FE7-4D43-B109-CC72CE8A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76625"/>
            <a:ext cx="4857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716353-6A96-4CAA-94D9-AF44E62D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48075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940"/>
                </a:solidFill>
              </a:defRPr>
            </a:pPr>
            <a:r>
              <a:rPr sz="1575" b="1">
                <a:solidFill>
                  <a:srgbClr val="102940"/>
                </a:solidFill>
              </a:rPr>
              <a:t>Rollout recommendation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919482-3A53-432F-B365-503D8A82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71925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0778B"/>
                </a:solidFill>
              </a:defRPr>
            </a:pPr>
            <a:r>
              <a:rPr sz="1200" b="0">
                <a:solidFill>
                  <a:srgbClr val="60778B"/>
                </a:solidFill>
              </a:rPr>
              <a:t>Waiting, learning, canary ready, or investigate.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3C2DDC-4DA1-4958-B227-75B615E5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374DF"/>
                </a:solidFill>
              </a:defRPr>
            </a:pPr>
            <a:r>
              <a:rPr sz="1725" b="1">
                <a:solidFill>
                  <a:srgbClr val="2374DF"/>
                </a:solidFill>
              </a:rPr>
              <a:t>Interview summary: “I created a weather-data quality prototype that measures compression and proves no source data changes.”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197B5E-B04C-4508-B0EE-BE089C0D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78B"/>
                </a:solidFill>
              </a:defRPr>
            </a:pPr>
            <a:r>
              <a:rPr sz="900" b="0">
                <a:solidFill>
                  <a:srgbClr val="60778B"/>
                </a:solidFill>
              </a:rPr>
              <a:t>Weather Sensor Data Proof Lab  ·  Step-by-step explainer  ·  6/6</a:t>
            </a:r>
          </a:p>
        </p:txBody>
      </p:sp>
    </p:spTree>
    <p:extLst>
      <p:ext uri="{BB962C8B-B14F-4D97-AF65-F5344CB8AC3E}">
        <p14:creationId xmlns:p14="http://schemas.microsoft.com/office/powerpoint/2010/main" val="9779045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2026-08-06T15:32:04.3900000Z</dcterms:created>
  <dcterms:modified xsi:type="dcterms:W3CDTF">2026-08-06T15:32:04.3900000Z</dcterms:modified>
</coreProperties>
</file>